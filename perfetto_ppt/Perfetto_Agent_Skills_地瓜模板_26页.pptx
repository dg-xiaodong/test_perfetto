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6256203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88"/>
            <a:ext cx="16258032" cy="9144000"/>
          </a:xfrm>
          <a:prstGeom prst="rect">
            <a:avLst/>
          </a:prstGeom>
        </p:spPr>
      </p:pic>
      <p:pic>
        <p:nvPicPr>
          <p:cNvPr id="3" name="Picture 2" descr="cover_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144" y="2569464"/>
            <a:ext cx="9144000" cy="6829425"/>
          </a:xfrm>
          <a:prstGeom prst="rect">
            <a:avLst/>
          </a:prstGeom>
        </p:spPr>
      </p:pic>
      <p:pic>
        <p:nvPicPr>
          <p:cNvPr id="4" name="Picture 3" descr="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272" y="1024128"/>
            <a:ext cx="8101583" cy="81015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4128" y="3502152"/>
            <a:ext cx="9601200" cy="1929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>
                <a:solidFill>
                  <a:srgbClr val="FFFFFF"/>
                </a:solidFill>
                <a:latin typeface="优设标题黑"/>
                <a:ea typeface="优设标题黑"/>
                <a:cs typeface="优设标题黑"/>
              </a:rPr>
              <a:t>Perfetto Agent Skills</a:t>
            </a:r>
          </a:p>
          <a:p>
            <a:pPr algn="l">
              <a:lnSpc>
                <a:spcPct val="105000"/>
              </a:lnSpc>
            </a:pPr>
            <a:r>
              <a:rPr sz="5600" b="1">
                <a:solidFill>
                  <a:srgbClr val="FFFFFF"/>
                </a:solidFill>
                <a:latin typeface="优设标题黑"/>
                <a:ea typeface="优设标题黑"/>
                <a:cs typeface="优设标题黑"/>
              </a:rPr>
              <a:t>性能诊断体系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5" y="5596127"/>
            <a:ext cx="71048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从性能问题到可验证根因 · RDK X5 / Embedded Linux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635508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3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71780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7328" y="635508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3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71780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使用方式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635508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3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71780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能力场景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80010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四大核心 Skill · 独立使用与统一路由 · 十场景扩展版图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c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203" cy="9144000"/>
          </a:xfrm>
          <a:prstGeom prst="rect">
            <a:avLst/>
          </a:prstGeom>
        </p:spPr>
      </p:pic>
      <p:pic>
        <p:nvPicPr>
          <p:cNvPr id="3" name="Picture 2" descr="logo_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6683" y="292608"/>
            <a:ext cx="1899536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16200" y="8595360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000000"/>
                </a:solidFill>
                <a:latin typeface="优设标题黑"/>
                <a:ea typeface="优设标题黑"/>
                <a:cs typeface="优设标题黑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4348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075688"/>
            <a:ext cx="1280160" cy="919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FF3C00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112264"/>
            <a:ext cx="1920240" cy="919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224028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Perfetto 是什么、怎么采、怎么读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3006089"/>
            <a:ext cx="8046720" cy="9144"/>
          </a:xfrm>
          <a:prstGeom prst="rect">
            <a:avLst/>
          </a:prstGeom>
          <a:solidFill>
            <a:srgbClr val="F0E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3225546"/>
            <a:ext cx="1280160" cy="919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FF3C00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262122"/>
            <a:ext cx="1920240" cy="919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3390138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Skill 的价值、如何提问、诊断闭环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4155948"/>
            <a:ext cx="8046720" cy="9144"/>
          </a:xfrm>
          <a:prstGeom prst="rect">
            <a:avLst/>
          </a:prstGeom>
          <a:solidFill>
            <a:srgbClr val="F0E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4375404"/>
            <a:ext cx="1280160" cy="919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FF3C00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411980"/>
            <a:ext cx="1920240" cy="919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四个专业 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4539996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Memory / CPU / Scheduling / Latency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5305806"/>
            <a:ext cx="8046720" cy="9144"/>
          </a:xfrm>
          <a:prstGeom prst="rect">
            <a:avLst/>
          </a:prstGeom>
          <a:solidFill>
            <a:srgbClr val="F0E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5525262"/>
            <a:ext cx="1280160" cy="919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FF3C00"/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561838"/>
            <a:ext cx="1920240" cy="919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实战与可信度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5689854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联合诊断、X5 真实实证、证据分级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6455664"/>
            <a:ext cx="8046720" cy="9144"/>
          </a:xfrm>
          <a:prstGeom prst="rect">
            <a:avLst/>
          </a:prstGeom>
          <a:solidFill>
            <a:srgbClr val="F0E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6675120"/>
            <a:ext cx="1280160" cy="919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FF3C00"/>
                </a:solidFill>
                <a:latin typeface="Arial Black"/>
                <a:ea typeface="Arial Black"/>
                <a:cs typeface="Arial Black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711696"/>
            <a:ext cx="1920240" cy="919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扩展与总结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839712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十场景版图、课后三步、参考链接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73352" y="0"/>
            <a:ext cx="19595592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0" y="731520"/>
            <a:ext cx="5852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0" b="1">
                <a:solidFill>
                  <a:srgbClr val="FFFFFF">
                    <a:alpha val="50000"/>
                  </a:srgbClr>
                </a:solidFill>
                <a:latin typeface="优设标题黑"/>
                <a:ea typeface="优设标题黑"/>
                <a:cs typeface="优设标题黑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566160"/>
            <a:ext cx="640080" cy="7315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8862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工具认知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525780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>
                    <a:alpha val="95000"/>
                  </a:srgbClr>
                </a:solidFill>
                <a:latin typeface="微软雅黑"/>
                <a:ea typeface="微软雅黑"/>
                <a:cs typeface="微软雅黑"/>
              </a:rPr>
              <a:t>先看仪器：Perfetto 像心电图，也像示波器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7955279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2" y="7955279"/>
            <a:ext cx="96012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9544" y="7955279"/>
            <a:ext cx="96012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7955279"/>
            <a:ext cx="96012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58968" y="7955279"/>
            <a:ext cx="96012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1298448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6A5E"/>
                </a:solidFill>
                <a:latin typeface="微软雅黑"/>
                <a:ea typeface="微软雅黑"/>
                <a:cs typeface="微软雅黑"/>
              </a:rPr>
              <a:t>发现卡顿、内存异常或帧率波动时，用时间线追踪还原「异常发生的那一刻，系统做了什么」。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150" y="292608"/>
            <a:ext cx="1908602" cy="3749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398617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 w="1270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23329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48041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2753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97465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33320" y="859536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4632"/>
            <a:ext cx="1389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01.Perfetto：像心电图一样给软件做「性能体检」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783080"/>
            <a:ext cx="14520672" cy="566928"/>
          </a:xfrm>
          <a:prstGeom prst="roundRect">
            <a:avLst>
              <a:gd name="adj" fmla="val 35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1783080"/>
            <a:ext cx="4983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性能监控只告诉我们「出了问题」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7648" y="1911095"/>
            <a:ext cx="27432" cy="310896"/>
          </a:xfrm>
          <a:prstGeom prst="rect">
            <a:avLst/>
          </a:prstGeom>
          <a:solidFill>
            <a:srgbClr val="FFD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83080"/>
            <a:ext cx="8595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Perfetto 像示波器：追踪事件时序，看清「问题在哪、前后什么关系」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2487168"/>
            <a:ext cx="4617720" cy="2084831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000" y="2670048"/>
            <a:ext cx="676656" cy="676656"/>
          </a:xfrm>
          <a:prstGeom prst="ellipse">
            <a:avLst/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670048"/>
            <a:ext cx="67665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4248" y="2798064"/>
            <a:ext cx="32278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CPU 性能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3493008"/>
            <a:ext cx="403250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CPU 忙在哪里？哪条函数路径最耗时？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5584" y="2487168"/>
            <a:ext cx="4617720" cy="2084831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89904" y="2670048"/>
            <a:ext cx="676656" cy="676656"/>
          </a:xfrm>
          <a:prstGeom prst="ellipse">
            <a:avLst/>
          </a:prstGeom>
          <a:solidFill>
            <a:srgbClr val="FFD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9904" y="2670048"/>
            <a:ext cx="67665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798064"/>
            <a:ext cx="32278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内存行为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3493008"/>
            <a:ext cx="403250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内存为何增长？是否在频繁 malloc / free？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62488" y="2487168"/>
            <a:ext cx="4617720" cy="2084831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036808" y="2670048"/>
            <a:ext cx="676656" cy="676656"/>
          </a:xfrm>
          <a:prstGeom prst="ellipse">
            <a:avLst/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36808" y="2670048"/>
            <a:ext cx="67665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78056" y="2798064"/>
            <a:ext cx="32278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线程调度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55096" y="3493008"/>
            <a:ext cx="403250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线程为什么卡住？被唤醒后还要等多久？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4681728"/>
            <a:ext cx="4617720" cy="2084831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43000" y="4864608"/>
            <a:ext cx="676656" cy="676656"/>
          </a:xfrm>
          <a:prstGeom prst="ellipse">
            <a:avLst/>
          </a:prstGeom>
          <a:solidFill>
            <a:srgbClr val="FFD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4864608"/>
            <a:ext cx="67665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84248" y="4992624"/>
            <a:ext cx="32278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业务时延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" y="5687568"/>
            <a:ext cx="403250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一次请求或一帧数据，究竟慢在哪个阶段？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15584" y="4681728"/>
            <a:ext cx="4617720" cy="2084831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89904" y="4864608"/>
            <a:ext cx="676656" cy="676656"/>
          </a:xfrm>
          <a:prstGeom prst="ellipse">
            <a:avLst/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4864608"/>
            <a:ext cx="67665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31152" y="4992624"/>
            <a:ext cx="32278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I/O 与驱动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08192" y="5687568"/>
            <a:ext cx="403250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文件读写、系统调用或中断哪里有异常？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762488" y="4681728"/>
            <a:ext cx="4617720" cy="2084831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036808" y="4864608"/>
            <a:ext cx="676656" cy="676656"/>
          </a:xfrm>
          <a:prstGeom prst="ellipse">
            <a:avLst/>
          </a:prstGeom>
          <a:solidFill>
            <a:srgbClr val="FFD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36808" y="4864608"/>
            <a:ext cx="67665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78056" y="4992624"/>
            <a:ext cx="32278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长时 / 回归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55096" y="5687568"/>
            <a:ext cx="403250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偶发卡顿在哪里？升级版本后哪些行为变了？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6967728"/>
            <a:ext cx="14520672" cy="932688"/>
          </a:xfrm>
          <a:prstGeom prst="roundRect">
            <a:avLst>
              <a:gd name="adj" fmla="val 22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70432" y="7040880"/>
            <a:ext cx="1389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体检结果：一份可以回放、放大、逐条查看的 Trace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0432" y="7479792"/>
            <a:ext cx="13898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但 Trace 只是证据，根因仍需结合源码、日志与对照实验验证。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1298448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6A5E"/>
                </a:solidFill>
                <a:latin typeface="微软雅黑"/>
                <a:ea typeface="微软雅黑"/>
                <a:cs typeface="微软雅黑"/>
              </a:rPr>
              <a:t>理解一条最常见的路径：确定问题 → 在设备录制 Trace → 打开 Perfetto UI → 进一步分析与验证。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150" y="292608"/>
            <a:ext cx="1908602" cy="3749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398617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 w="1270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23329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48041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2753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97465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33320" y="859536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4632"/>
            <a:ext cx="1389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01.Perfetto 怎么用？从症状到分析，记住四个步骤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783080"/>
            <a:ext cx="3424428" cy="146304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198424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1984248"/>
            <a:ext cx="23271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描述症状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2496312"/>
            <a:ext cx="291236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确定进程 / 线程、异常时刻
及要回答的问题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67428" y="1783080"/>
            <a:ext cx="3424428" cy="146304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23460" y="198424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8676" y="1984248"/>
            <a:ext cx="23271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采集 Trace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460" y="2496312"/>
            <a:ext cx="291236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配置数据源，在 Linux 上
用 tracebox 录制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6175" y="1783080"/>
            <a:ext cx="3424428" cy="146304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7" y="198424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1984248"/>
            <a:ext cx="23271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查看时间线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7" y="2496312"/>
            <a:ext cx="291236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打开 .pftrace，缩放窗口、
展开 CPU / 线程轨道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964924" y="1783080"/>
            <a:ext cx="3424428" cy="146304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220955" y="198424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6172" y="1984248"/>
            <a:ext cx="23271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分析与验证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20955" y="2496312"/>
            <a:ext cx="291236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点击详情，必要时用
SQL、源码或对照实验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3474720"/>
            <a:ext cx="8869680" cy="4389120"/>
          </a:xfrm>
          <a:prstGeom prst="roundRect">
            <a:avLst>
              <a:gd name="adj" fmla="val 6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3657600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真实的 Perfetto UI 长这样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133087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CPU 活动轨道：不同 CPU 在同一时间轴上的活动</a:t>
            </a:r>
          </a:p>
        </p:txBody>
      </p:sp>
      <p:pic>
        <p:nvPicPr>
          <p:cNvPr id="30" name="Picture 2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209" y="4480560"/>
            <a:ext cx="8280621" cy="106070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43000" y="5705856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应用 Slice：彩色区间表示被记录的一次操作 / 阶段</a:t>
            </a:r>
          </a:p>
        </p:txBody>
      </p:sp>
      <p:pic>
        <p:nvPicPr>
          <p:cNvPr id="32" name="Picture 31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6055920"/>
            <a:ext cx="5486400" cy="104637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43000" y="7333488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官方截图节选 · 两幅截图来自不同官方示例，不用于跨图推断因果。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12680" y="3474720"/>
            <a:ext cx="5376672" cy="4389120"/>
          </a:xfrm>
          <a:prstGeom prst="roundRect">
            <a:avLst>
              <a:gd name="adj" fmla="val 6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87000" y="36576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打开后先做三件事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4315968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16768" y="431596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导入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68912" y="4315968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访问 ui.perfetto.dev，打开 .pftrace 或示例 Trace。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5431536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16768" y="5431536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找窗口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68912" y="5431536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在时间线上放大异常段，展开相关线程。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87000" y="6547104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16768" y="654710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看证据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68912" y="6547104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点击事件查看 Duration；需统计时使用 Query（SQL）。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484632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01.为什么排障依然困难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150" y="292608"/>
            <a:ext cx="1908602" cy="3749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68680" y="7882127"/>
            <a:ext cx="14520672" cy="502920"/>
          </a:xfrm>
          <a:prstGeom prst="roundRect">
            <a:avLst>
              <a:gd name="adj" fmla="val 2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7882127"/>
            <a:ext cx="139720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要改变的是诊断方式：用户描述现象 → Agent 选择证据 → 输出可复核结论。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8617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 w="1270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23329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48041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2753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97465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33320" y="859536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75104"/>
            <a:ext cx="101406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Perfetto 是很强的采集与分析底座，但它不会替你做判断。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429000"/>
            <a:ext cx="4279392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39" y="4389120"/>
            <a:ext cx="457200" cy="2011680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39" y="4663440"/>
            <a:ext cx="457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39" y="5394960"/>
            <a:ext cx="457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1444751" y="5303520"/>
            <a:ext cx="137160" cy="182880"/>
          </a:xfrm>
          <a:prstGeom prst="triangle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434340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症状描述模糊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4937760"/>
            <a:ext cx="1097280" cy="36576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521208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「隔几秒卡一下」——不知道需要哪些证据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9048" y="3429000"/>
            <a:ext cx="4279392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07608" y="4389120"/>
            <a:ext cx="457200" cy="2011680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07608" y="4663440"/>
            <a:ext cx="457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8" y="5394960"/>
            <a:ext cx="457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6446520" y="5303520"/>
            <a:ext cx="137160" cy="182880"/>
          </a:xfrm>
          <a:prstGeom prst="triangle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434340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工具方法分散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84848" y="4937760"/>
            <a:ext cx="1097280" cy="36576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84848" y="521208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ftrace / perf / heapprofd / SQL 要自行组合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091672" y="3429000"/>
            <a:ext cx="4279392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000232" y="4389120"/>
            <a:ext cx="457200" cy="2011680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00232" y="4663440"/>
            <a:ext cx="457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0232" y="5394960"/>
            <a:ext cx="457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33" name="Isosceles Triangle 32"/>
          <p:cNvSpPr/>
          <p:nvPr/>
        </p:nvSpPr>
        <p:spPr>
          <a:xfrm rot="5400000">
            <a:off x="11439144" y="5303520"/>
            <a:ext cx="137160" cy="182880"/>
          </a:xfrm>
          <a:prstGeom prst="triangle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777472" y="434340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结论容易越界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777472" y="4937760"/>
            <a:ext cx="1097280" cy="36576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777472" y="521208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CPU 高≠算力瓶颈；RSS 稳≠无分配开销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73352" y="0"/>
            <a:ext cx="19595592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0" y="731520"/>
            <a:ext cx="5852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0" b="1">
                <a:solidFill>
                  <a:srgbClr val="FFFFFF">
                    <a:alpha val="50000"/>
                  </a:srgbClr>
                </a:solidFill>
                <a:latin typeface="优设标题黑"/>
                <a:ea typeface="优设标题黑"/>
                <a:cs typeface="优设标题黑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566160"/>
            <a:ext cx="640080" cy="7315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8862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Skill 入门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525780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>
                    <a:alpha val="95000"/>
                  </a:srgbClr>
                </a:solidFill>
                <a:latin typeface="微软雅黑"/>
                <a:ea typeface="微软雅黑"/>
                <a:cs typeface="微软雅黑"/>
              </a:rPr>
              <a:t>把工程师用仪器的诊断流程，固化给 Agent 复用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7955279"/>
            <a:ext cx="96012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2" y="7955279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9544" y="7955279"/>
            <a:ext cx="96012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7955279"/>
            <a:ext cx="96012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58968" y="7955279"/>
            <a:ext cx="96012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1298448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6A5E"/>
                </a:solidFill>
                <a:latin typeface="微软雅黑"/>
                <a:ea typeface="微软雅黑"/>
                <a:cs typeface="微软雅黑"/>
              </a:rPr>
              <a:t>不是第二套 Perfetto，也不是一篇使用教程；它让 Agent 知道什么时候采集、如何分析、结论怎样复核。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150" y="292608"/>
            <a:ext cx="1908602" cy="3749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398617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23329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 w="1270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48041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2753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97465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33320" y="859536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4632"/>
            <a:ext cx="1389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02.Agent Skill 是什么？把诊断经验变成可执行方法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7123176" cy="4617720"/>
          </a:xfrm>
          <a:prstGeom prst="roundRect">
            <a:avLst>
              <a:gd name="adj" fmla="val 6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19" y="2121408"/>
            <a:ext cx="64830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直接使用 Perfetto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2743200"/>
            <a:ext cx="64830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工程师需要自行决定：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24612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8578"/>
                </a:solidFill>
                <a:latin typeface="优设标题黑"/>
                <a:ea typeface="优设标题黑"/>
                <a:cs typeface="优设标题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246120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该采哪些数据源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99592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8578"/>
                </a:solidFill>
                <a:latin typeface="优设标题黑"/>
                <a:ea typeface="优设标题黑"/>
                <a:cs typeface="优设标题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95928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怎样生成配置并采集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74573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8578"/>
                </a:solidFill>
                <a:latin typeface="优设标题黑"/>
                <a:ea typeface="优设标题黑"/>
                <a:cs typeface="优设标题黑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745736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SQL 如何写、结果如何解释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495544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A8578"/>
                </a:solidFill>
                <a:latin typeface="优设标题黑"/>
                <a:ea typeface="优设标题黑"/>
                <a:cs typeface="优设标题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495544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证据是否足以证明原因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66175" y="1828800"/>
            <a:ext cx="7123176" cy="4617720"/>
          </a:xfrm>
          <a:prstGeom prst="roundRect">
            <a:avLst>
              <a:gd name="adj" fmla="val 6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86215" y="2121408"/>
            <a:ext cx="64830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使用 Perfetto Agent Skill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6215" y="2743200"/>
            <a:ext cx="64830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Agent 可按场景复用：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1936" y="324612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296" y="3246120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问题选路与诊断假设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31936" y="399592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3995928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TraceConfig、采集步骤和脚本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1936" y="474573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4745736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经过验证的 PerfettoSQL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1936" y="5495544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6" y="5495544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数据验收、报告和证据边界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6675120"/>
            <a:ext cx="3424428" cy="1097280"/>
          </a:xfrm>
          <a:prstGeom prst="roundRect">
            <a:avLst>
              <a:gd name="adj" fmla="val 15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6876288"/>
            <a:ext cx="34244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SKILL.md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7242048"/>
            <a:ext cx="34244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触发和选路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67428" y="6675120"/>
            <a:ext cx="3424428" cy="1097280"/>
          </a:xfrm>
          <a:prstGeom prst="roundRect">
            <a:avLst>
              <a:gd name="adj" fmla="val 15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67428" y="6876288"/>
            <a:ext cx="34244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references / workflows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7428" y="7242048"/>
            <a:ext cx="34244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场景方法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66175" y="6675120"/>
            <a:ext cx="3424428" cy="1097280"/>
          </a:xfrm>
          <a:prstGeom prst="roundRect">
            <a:avLst>
              <a:gd name="adj" fmla="val 15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66175" y="6876288"/>
            <a:ext cx="34244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configs / sql / scripts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6175" y="7242048"/>
            <a:ext cx="34244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可执行资产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964924" y="6675120"/>
            <a:ext cx="3424428" cy="1097280"/>
          </a:xfrm>
          <a:prstGeom prst="roundRect">
            <a:avLst>
              <a:gd name="adj" fmla="val 15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964924" y="6876288"/>
            <a:ext cx="34244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tests / evals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964924" y="7242048"/>
            <a:ext cx="34244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验证与回归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1298448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6A5E"/>
                </a:solidFill>
                <a:latin typeface="微软雅黑"/>
                <a:ea typeface="微软雅黑"/>
                <a:cs typeface="微软雅黑"/>
              </a:rPr>
              <a:t>用户不需要先判断 Perfetto 的数据源；可以从观察到的异常现象进入。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150" y="292608"/>
            <a:ext cx="1908602" cy="3749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68680" y="7882127"/>
            <a:ext cx="14520672" cy="502920"/>
          </a:xfrm>
          <a:prstGeom prst="roundRect">
            <a:avLst>
              <a:gd name="adj" fmla="val 2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7882127"/>
            <a:ext cx="139720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已确定要查内存就直接调用 Memory；只知道偶尔卡顿，先从综合入口建立假设再选专业流程。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8617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23329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 w="1270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48041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2753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97465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33320" y="859536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4632"/>
            <a:ext cx="1389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02.四个核心 Skill，解决四类最常见的性能问题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828800"/>
            <a:ext cx="7123176" cy="2788920"/>
          </a:xfrm>
          <a:prstGeom prst="roundRect">
            <a:avLst>
              <a:gd name="adj" fmla="val 6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3544" y="2103120"/>
            <a:ext cx="82296" cy="2240279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2084832"/>
            <a:ext cx="6437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200">
                <a:solidFill>
                  <a:srgbClr val="FF3C0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2450592"/>
            <a:ext cx="6437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内存与分配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3035808"/>
            <a:ext cx="64373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“内存一直涨？”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“RSS 稳定但 malloc 很频繁？”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3950208"/>
            <a:ext cx="6437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看占用、累计分配、未释放量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6175" y="1828800"/>
            <a:ext cx="7123176" cy="2788920"/>
          </a:xfrm>
          <a:prstGeom prst="roundRect">
            <a:avLst>
              <a:gd name="adj" fmla="val 6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2103120"/>
            <a:ext cx="82296" cy="2240279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0224" y="2084832"/>
            <a:ext cx="6437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200">
                <a:solidFill>
                  <a:srgbClr val="FF3C00"/>
                </a:solidFill>
                <a:latin typeface="Arial"/>
                <a:ea typeface="Arial"/>
                <a:cs typeface="Arial"/>
              </a:rPr>
              <a:t>CPU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0224" y="2450592"/>
            <a:ext cx="6437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计算热点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0224" y="3035808"/>
            <a:ext cx="64373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“CPU 为什么这么高？”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“哪段函数在消耗 CPU？”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0224" y="3950208"/>
            <a:ext cx="6437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看运行时间与调用栈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4800600"/>
            <a:ext cx="7123176" cy="2788920"/>
          </a:xfrm>
          <a:prstGeom prst="roundRect">
            <a:avLst>
              <a:gd name="adj" fmla="val 6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" y="5074920"/>
            <a:ext cx="82296" cy="2240279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52728" y="5056632"/>
            <a:ext cx="6437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200">
                <a:solidFill>
                  <a:srgbClr val="FF3C00"/>
                </a:solidFill>
                <a:latin typeface="Arial"/>
                <a:ea typeface="Arial"/>
                <a:cs typeface="Arial"/>
              </a:rPr>
              <a:t>SCHEDULING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2728" y="5422392"/>
            <a:ext cx="6437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阻塞与调度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2728" y="6007608"/>
            <a:ext cx="64373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“CPU 不高，线程为什么卡？”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“谁在唤醒它？”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2728" y="6922008"/>
            <a:ext cx="6437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看等待、唤醒和调度延迟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66175" y="4800600"/>
            <a:ext cx="7123176" cy="2788920"/>
          </a:xfrm>
          <a:prstGeom prst="roundRect">
            <a:avLst>
              <a:gd name="adj" fmla="val 6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5074920"/>
            <a:ext cx="82296" cy="2240279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0224" y="5056632"/>
            <a:ext cx="6437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200">
                <a:solidFill>
                  <a:srgbClr val="FF3C00"/>
                </a:solidFill>
                <a:latin typeface="Arial"/>
                <a:ea typeface="Arial"/>
                <a:cs typeface="Arial"/>
              </a:rPr>
              <a:t>LATENCY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0224" y="5422392"/>
            <a:ext cx="6437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业务执行链路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0224" y="6007608"/>
            <a:ext cx="64373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“哪一帧超时？”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“处理流程慢在哪一步？”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0224" y="6922008"/>
            <a:ext cx="6437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看请求阶段、队列与端到端时延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1298448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6A5E"/>
                </a:solidFill>
                <a:latin typeface="微软雅黑"/>
                <a:ea typeface="微软雅黑"/>
                <a:cs typeface="微软雅黑"/>
              </a:rPr>
              <a:t>无需编写复杂 Prompt，更不用预先了解追踪事件、采集配置或 SQL。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150" y="292608"/>
            <a:ext cx="1908602" cy="3749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68680" y="7882127"/>
            <a:ext cx="14520672" cy="502920"/>
          </a:xfrm>
          <a:prstGeom prst="roundRect">
            <a:avLst>
              <a:gd name="adj" fmla="val 2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7882127"/>
            <a:ext cx="139720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使用前确认 Agent 已安装或加载本项目 Skill；未授权时不直接重启、注入或修改业务。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8617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23329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 w="1270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48041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2753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97465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33320" y="859536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4632"/>
            <a:ext cx="1389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02.第一步：像描述故障一样，直接向 Agent 提问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783080"/>
            <a:ext cx="14520672" cy="2377440"/>
          </a:xfrm>
          <a:prstGeom prst="roundRect">
            <a:avLst>
              <a:gd name="adj" fmla="val 6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88720" y="2029968"/>
            <a:ext cx="2103120" cy="45720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029968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用户输入示例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24912"/>
            <a:ext cx="1388059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“RDK X5 上的 worker_app 每隔几秒就卡一下，CPU 也会波动。</a:t>
            </a:r>
          </a:p>
          <a:p>
            <a:pPr algn="l">
              <a:lnSpc>
                <a:spcPct val="130000"/>
              </a:lnSpc>
            </a:pPr>
            <a:r>
              <a:rPr sz="26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帮我用 Perfetto 排查一下，先设计定位方案，不要修改程序。”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89120"/>
            <a:ext cx="1452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如果能补充三类信息，会让 Agent 更快选对路线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892040"/>
            <a:ext cx="4617720" cy="237744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43000" y="5184648"/>
            <a:ext cx="603504" cy="402336"/>
          </a:xfrm>
          <a:prstGeom prst="roundRect">
            <a:avLst>
              <a:gd name="adj" fmla="val 35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184648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11095" y="5184648"/>
            <a:ext cx="330098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看到什么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943600"/>
            <a:ext cx="4069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卡顿、CPU 波动、内存变化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15584" y="4892040"/>
            <a:ext cx="4617720" cy="237744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89904" y="5184648"/>
            <a:ext cx="603504" cy="402336"/>
          </a:xfrm>
          <a:prstGeom prst="roundRect">
            <a:avLst>
              <a:gd name="adj" fmla="val 35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9904" y="5184648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184648"/>
            <a:ext cx="330098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在哪发生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9904" y="5943600"/>
            <a:ext cx="4069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RDK X5、进程名、系统环境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62488" y="4892040"/>
            <a:ext cx="4617720" cy="237744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036808" y="5184648"/>
            <a:ext cx="603504" cy="402336"/>
          </a:xfrm>
          <a:prstGeom prst="roundRect">
            <a:avLst>
              <a:gd name="adj" fmla="val 35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36808" y="5184648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04904" y="5184648"/>
            <a:ext cx="330098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允许做什么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36808" y="5943600"/>
            <a:ext cx="4069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只给方案 / 可采集 / 可改测试程序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1298448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6A5E"/>
                </a:solidFill>
                <a:latin typeface="微软雅黑"/>
                <a:ea typeface="微软雅黑"/>
                <a:cs typeface="微软雅黑"/>
              </a:rPr>
              <a:t>每一步都对应具体证据；如果用户只要求方案，Agent 应停留在方案交付阶段。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150" y="292608"/>
            <a:ext cx="1908602" cy="3749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68680" y="7882127"/>
            <a:ext cx="14520672" cy="502920"/>
          </a:xfrm>
          <a:prstGeom prst="roundRect">
            <a:avLst>
              <a:gd name="adj" fmla="val 2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7882127"/>
            <a:ext cx="139720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只有实际采集和查询后才能报告测量结果；缺数据时说明 UNKNOWN 与下一步补采。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8617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23329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 w="1270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48041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2753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97465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33320" y="859536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4632"/>
            <a:ext cx="1389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02.第二步：Agent 将一句话变成可复核的诊断过程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783080"/>
            <a:ext cx="2699308" cy="320040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2057400"/>
            <a:ext cx="603504" cy="402336"/>
          </a:xfrm>
          <a:prstGeom prst="roundRect">
            <a:avLst>
              <a:gd name="adj" fmla="val 35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0574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651760"/>
            <a:ext cx="22421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识别症状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00400"/>
            <a:ext cx="224210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事实与猜想分开
明确环境/操作边界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276" y="3108960"/>
            <a:ext cx="2194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24020" y="1783080"/>
            <a:ext cx="2699308" cy="320040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052620" y="2057400"/>
            <a:ext cx="603504" cy="402336"/>
          </a:xfrm>
          <a:prstGeom prst="roundRect">
            <a:avLst>
              <a:gd name="adj" fmla="val 35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52620" y="20574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2620" y="2651760"/>
            <a:ext cx="22421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选择路线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2620" y="3200400"/>
            <a:ext cx="224210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建立候选假设
确定所需数据源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1617" y="3108960"/>
            <a:ext cx="2194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79361" y="1783080"/>
            <a:ext cx="2699308" cy="320040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07961" y="2057400"/>
            <a:ext cx="603504" cy="402336"/>
          </a:xfrm>
          <a:prstGeom prst="roundRect">
            <a:avLst>
              <a:gd name="adj" fmla="val 35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07961" y="20574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7961" y="2651760"/>
            <a:ext cx="22421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采集 Trace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7961" y="3200400"/>
            <a:ext cx="224210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检查板端能力
生成配置与采集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96958" y="3108960"/>
            <a:ext cx="2194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34702" y="1783080"/>
            <a:ext cx="2699308" cy="320040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63302" y="2057400"/>
            <a:ext cx="603504" cy="402336"/>
          </a:xfrm>
          <a:prstGeom prst="roundRect">
            <a:avLst>
              <a:gd name="adj" fmla="val 35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3302" y="20574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3302" y="2651760"/>
            <a:ext cx="22421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校验数据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3302" y="3200400"/>
            <a:ext cx="224210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核对目标、时间窗
丢包、缺失和符号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452299" y="3108960"/>
            <a:ext cx="2194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690043" y="1783080"/>
            <a:ext cx="2699308" cy="320040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2918643" y="2057400"/>
            <a:ext cx="603504" cy="402336"/>
          </a:xfrm>
          <a:prstGeom prst="roundRect">
            <a:avLst>
              <a:gd name="adj" fmla="val 35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918643" y="20574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18643" y="2651760"/>
            <a:ext cx="22421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分析报告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18643" y="3200400"/>
            <a:ext cx="224210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SQL + UI + 调用栈
列出结论和未知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" y="5257800"/>
            <a:ext cx="14520672" cy="2377440"/>
          </a:xfrm>
          <a:prstGeom prst="roundRect">
            <a:avLst>
              <a:gd name="adj" fmla="val 6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5486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可能得到的交付物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126480"/>
            <a:ext cx="3287268" cy="100584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6126480"/>
            <a:ext cx="3012948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诊断方案  TraceConfig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04588" y="6126480"/>
            <a:ext cx="3287268" cy="100584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41748" y="6126480"/>
            <a:ext cx="3012948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采集文件  .pftrace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66175" y="6126480"/>
            <a:ext cx="3287268" cy="100584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03336" y="6126480"/>
            <a:ext cx="3012948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分析 SQL / 证据表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827763" y="6126480"/>
            <a:ext cx="3287268" cy="100584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964924" y="6126480"/>
            <a:ext cx="3012948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诊断报告  待确认项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1298448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6A5E"/>
                </a:solidFill>
                <a:latin typeface="微软雅黑"/>
                <a:ea typeface="微软雅黑"/>
                <a:cs typeface="微软雅黑"/>
              </a:rPr>
              <a:t>问题明确时直接使用专业 Skill；症状不明或跨领域时由总入口协调。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150" y="292608"/>
            <a:ext cx="1908602" cy="3749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398617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23329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 w="1270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48041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2753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97465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33320" y="859536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4632"/>
            <a:ext cx="1389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02.一套体系，两种入口：独立使用与统一路由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783080"/>
            <a:ext cx="7123176" cy="4663440"/>
          </a:xfrm>
          <a:prstGeom prst="roundRect">
            <a:avLst>
              <a:gd name="adj" fmla="val 6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3544" y="2075688"/>
            <a:ext cx="82296" cy="47548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057400"/>
            <a:ext cx="6446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独立使用 · Direct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15768"/>
            <a:ext cx="6446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问题范围已经明确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19" y="3246120"/>
            <a:ext cx="6483096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19" y="3246120"/>
            <a:ext cx="6025896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“这份 Trace 里谁分配了最多内存？”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389120"/>
            <a:ext cx="6446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↓ 直接进入 Memory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19" y="4937760"/>
            <a:ext cx="6483096" cy="1005840"/>
          </a:xfrm>
          <a:prstGeom prst="roundRect">
            <a:avLst>
              <a:gd name="adj" fmla="val 12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19" y="4937760"/>
            <a:ext cx="6025896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内存分配热点 / Live / Total / 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66175" y="1783080"/>
            <a:ext cx="7123176" cy="4663440"/>
          </a:xfrm>
          <a:prstGeom prst="roundRect">
            <a:avLst>
              <a:gd name="adj" fmla="val 6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2075688"/>
            <a:ext cx="82296" cy="475488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31936" y="2057400"/>
            <a:ext cx="6446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统一入口 · Skill Router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1936" y="2715768"/>
            <a:ext cx="6446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问题模糊或跨多个领域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86215" y="3246120"/>
            <a:ext cx="6483096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14815" y="3246120"/>
            <a:ext cx="6025896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“程序偶尔卡顿，帮我找原因。”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1936" y="4389120"/>
            <a:ext cx="6446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↓ 识别症状，选择一个或多个 Skill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86215" y="4937760"/>
            <a:ext cx="6483096" cy="1005840"/>
          </a:xfrm>
          <a:prstGeom prst="roundRect">
            <a:avLst>
              <a:gd name="adj" fmla="val 12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14815" y="4937760"/>
            <a:ext cx="6025896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Latency / CPU / Scheduling /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6720840"/>
            <a:ext cx="1452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两种入口都复用 Perfetto 采集、Trace Processor、已验证 SQL 和统一的证据要求。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7269480"/>
            <a:ext cx="1452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注：四个独立 Skill 已开发；自动总路由为一体化目标使用形态，联调成熟度以实际验收为准。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73352" y="0"/>
            <a:ext cx="19595592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0" y="731520"/>
            <a:ext cx="5852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0" b="1">
                <a:solidFill>
                  <a:srgbClr val="FFFFFF">
                    <a:alpha val="50000"/>
                  </a:srgbClr>
                </a:solidFill>
                <a:latin typeface="优设标题黑"/>
                <a:ea typeface="优设标题黑"/>
                <a:cs typeface="优设标题黑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566160"/>
            <a:ext cx="640080" cy="7315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8862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四个专业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525780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>
                    <a:alpha val="95000"/>
                  </a:srgbClr>
                </a:solidFill>
                <a:latin typeface="微软雅黑"/>
                <a:ea typeface="微软雅黑"/>
                <a:cs typeface="微软雅黑"/>
              </a:rPr>
              <a:t>Memory / CPU / Scheduling / Latency，各看一类证据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7955279"/>
            <a:ext cx="96012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2" y="7955279"/>
            <a:ext cx="96012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9544" y="7955279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7955279"/>
            <a:ext cx="96012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58968" y="7955279"/>
            <a:ext cx="96012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1298448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6A5E"/>
                </a:solidFill>
                <a:latin typeface="微软雅黑"/>
                <a:ea typeface="微软雅黑"/>
                <a:cs typeface="微软雅黑"/>
              </a:rPr>
              <a:t>典型提问：“RSS 没涨，但程序处理时频繁 malloc / free，会不会产生开销？”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150" y="292608"/>
            <a:ext cx="1908602" cy="3749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68680" y="7882127"/>
            <a:ext cx="14520672" cy="502920"/>
          </a:xfrm>
          <a:prstGeom prst="roundRect">
            <a:avLst>
              <a:gd name="adj" fmla="val 2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7882127"/>
            <a:ext cx="139720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交付：内存趋势、分配热点、Live/Total 口径和可复核 SQL；是否造成卡顿仍需 CPU / 延迟证据。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8617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23329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48041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 w="1270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2753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97465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33320" y="859536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4632"/>
            <a:ext cx="1389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03.Memory：内存稳定，不代表没有分配问题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28800"/>
            <a:ext cx="7123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三种指标，回答三个不同问题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331720"/>
            <a:ext cx="7123176" cy="1298448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532888"/>
            <a:ext cx="6483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占用 · RSS / PSS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990087"/>
            <a:ext cx="64830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当前驻留多少内存？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813048"/>
            <a:ext cx="7123176" cy="1298448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014215"/>
            <a:ext cx="6483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分配 · Total Allocation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71416"/>
            <a:ext cx="64830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累计分配了多少？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294376"/>
            <a:ext cx="7123176" cy="1298448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495544"/>
            <a:ext cx="6483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保留 · Unreleased / 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952744"/>
            <a:ext cx="64830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追踪范围内还有多少未释放？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66175" y="1828800"/>
            <a:ext cx="7123176" cy="4910328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86216" y="2057400"/>
            <a:ext cx="6483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Skill 帮你做什么</a:t>
            </a:r>
          </a:p>
        </p:txBody>
      </p:sp>
      <p:sp>
        <p:nvSpPr>
          <p:cNvPr id="25" name="Oval 24"/>
          <p:cNvSpPr/>
          <p:nvPr/>
        </p:nvSpPr>
        <p:spPr>
          <a:xfrm>
            <a:off x="8631936" y="2788920"/>
            <a:ext cx="146304" cy="146304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2697480"/>
            <a:ext cx="60716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按增长 / 尖峰 / Churn 选路</a:t>
            </a:r>
          </a:p>
        </p:txBody>
      </p:sp>
      <p:sp>
        <p:nvSpPr>
          <p:cNvPr id="27" name="Oval 26"/>
          <p:cNvSpPr/>
          <p:nvPr/>
        </p:nvSpPr>
        <p:spPr>
          <a:xfrm>
            <a:off x="8631936" y="3794760"/>
            <a:ext cx="146304" cy="146304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3703320"/>
            <a:ext cx="60716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采集计数器或 Native Heap</a:t>
            </a:r>
          </a:p>
        </p:txBody>
      </p:sp>
      <p:sp>
        <p:nvSpPr>
          <p:cNvPr id="29" name="Oval 28"/>
          <p:cNvSpPr/>
          <p:nvPr/>
        </p:nvSpPr>
        <p:spPr>
          <a:xfrm>
            <a:off x="8631936" y="4800600"/>
            <a:ext cx="146304" cy="146304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4709160"/>
            <a:ext cx="60716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通过 SQL 找到分配调用路径</a:t>
            </a:r>
          </a:p>
        </p:txBody>
      </p:sp>
      <p:sp>
        <p:nvSpPr>
          <p:cNvPr id="31" name="Oval 30"/>
          <p:cNvSpPr/>
          <p:nvPr/>
        </p:nvSpPr>
        <p:spPr>
          <a:xfrm>
            <a:off x="8631936" y="5806440"/>
            <a:ext cx="146304" cy="146304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5715000"/>
            <a:ext cx="60716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注明采样误差和未覆盖的内存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1298448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6A5E"/>
                </a:solidFill>
                <a:latin typeface="微软雅黑"/>
                <a:ea typeface="微软雅黑"/>
                <a:cs typeface="微软雅黑"/>
              </a:rPr>
              <a:t>典型提问：“CPU 每隔几秒升高，具体是哪个线程、哪条调用栈在消耗资源？”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150" y="292608"/>
            <a:ext cx="1908602" cy="3749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68680" y="7882127"/>
            <a:ext cx="14520672" cy="502920"/>
          </a:xfrm>
          <a:prstGeom prst="roundRect">
            <a:avLst>
              <a:gd name="adj" fmla="val 2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7882127"/>
            <a:ext cx="139720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注意：CPU Skill 看 On-CPU 开销；线程等待原因由 Scheduling 进一步分析。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8617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23329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48041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 w="1270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2753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97465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33320" y="859536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4632"/>
            <a:ext cx="1389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03.CPU：从“哪个线程忙”到“哪些函数在忙”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828800"/>
            <a:ext cx="8869680" cy="576072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084831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一条常见的诊断路线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017520"/>
            <a:ext cx="27432" cy="3163824"/>
          </a:xfrm>
          <a:prstGeom prst="rect">
            <a:avLst/>
          </a:prstGeom>
          <a:solidFill>
            <a:srgbClr val="FFD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88720" y="2743200"/>
            <a:ext cx="566928" cy="566928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7432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276148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时间窗口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79806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锁定 CPU 峰值的时刻</a:t>
            </a:r>
          </a:p>
        </p:txBody>
      </p:sp>
      <p:sp>
        <p:nvSpPr>
          <p:cNvPr id="20" name="Oval 19"/>
          <p:cNvSpPr/>
          <p:nvPr/>
        </p:nvSpPr>
        <p:spPr>
          <a:xfrm>
            <a:off x="1188720" y="3794760"/>
            <a:ext cx="566928" cy="566928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79476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381304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目标线程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84962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比较各线程 On-CPU 时间</a:t>
            </a:r>
          </a:p>
        </p:txBody>
      </p:sp>
      <p:sp>
        <p:nvSpPr>
          <p:cNvPr id="24" name="Oval 23"/>
          <p:cNvSpPr/>
          <p:nvPr/>
        </p:nvSpPr>
        <p:spPr>
          <a:xfrm>
            <a:off x="1188720" y="4846320"/>
            <a:ext cx="566928" cy="566928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8463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864607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调用栈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901183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识别采样热点与函数路径</a:t>
            </a:r>
          </a:p>
        </p:txBody>
      </p:sp>
      <p:sp>
        <p:nvSpPr>
          <p:cNvPr id="28" name="Oval 27"/>
          <p:cNvSpPr/>
          <p:nvPr/>
        </p:nvSpPr>
        <p:spPr>
          <a:xfrm>
            <a:off x="1188720" y="5897879"/>
            <a:ext cx="566928" cy="566928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897879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5916167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源码验证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952743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核对与实际调用逻辑一致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12680" y="1828800"/>
            <a:ext cx="5376672" cy="576072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0" y="2084831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常见输出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27889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热点线程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32461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谁的 CPU 时间最多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429767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热点函数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475487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哪个函数 / 调用路径占比高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5806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异常窗口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62636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热点是否只在抖动时出现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1298448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6A5E"/>
                </a:solidFill>
                <a:latin typeface="微软雅黑"/>
                <a:ea typeface="微软雅黑"/>
                <a:cs typeface="微软雅黑"/>
              </a:rPr>
              <a:t>典型提问：“程序偶尔卡 20 ms，但 CPU 并不高，为什么线程没及时处理任务？”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150" y="292608"/>
            <a:ext cx="1908602" cy="3749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68680" y="7882127"/>
            <a:ext cx="14520672" cy="502920"/>
          </a:xfrm>
          <a:prstGeom prst="roundRect">
            <a:avLst>
              <a:gd name="adj" fmla="val 2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7882127"/>
            <a:ext cx="139720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注意：唤醒者 ≠ 一定是锁持有者；缺失事件栈或依赖信息时，需要标记 UNKNOWN。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8617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23329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48041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 w="1270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2753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97465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33320" y="859536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4632"/>
            <a:ext cx="1389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03.Scheduling：线程没在跑，时间耗在哪里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288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一次等待的三个阶段（教学示意）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240280"/>
            <a:ext cx="4535424" cy="146304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395728"/>
            <a:ext cx="3986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阻塞 / Sleeping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816352"/>
            <a:ext cx="39867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等待唤醒或事件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91840"/>
            <a:ext cx="3986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t0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2697480"/>
            <a:ext cx="3474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61304" y="2240280"/>
            <a:ext cx="4535424" cy="146304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2395728"/>
            <a:ext cx="3986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Runnable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5624" y="2816352"/>
            <a:ext cx="39867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已可运行，等待获得 CPU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5624" y="3291840"/>
            <a:ext cx="3986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t1 · 唤醒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51592" y="2697480"/>
            <a:ext cx="3474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53928" y="2240280"/>
            <a:ext cx="4535424" cy="146304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28248" y="2395728"/>
            <a:ext cx="3986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Running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28248" y="2816352"/>
            <a:ext cx="39867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真正执行任务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28248" y="3291840"/>
            <a:ext cx="3986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t2 · 运行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023360"/>
            <a:ext cx="4657344" cy="256032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43000" y="4297680"/>
            <a:ext cx="603504" cy="402336"/>
          </a:xfrm>
          <a:prstGeom prst="roundRect">
            <a:avLst>
              <a:gd name="adj" fmla="val 35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429768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92808" y="4297680"/>
            <a:ext cx="33588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阻塞端调用栈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956048"/>
            <a:ext cx="410870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在哪一条代码路径停止推进？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00344" y="4023360"/>
            <a:ext cx="4657344" cy="256032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074664" y="4297680"/>
            <a:ext cx="603504" cy="402336"/>
          </a:xfrm>
          <a:prstGeom prst="roundRect">
            <a:avLst>
              <a:gd name="adj" fmla="val 35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74664" y="429768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24472" y="4297680"/>
            <a:ext cx="33588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唤醒端调用栈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74664" y="4956048"/>
            <a:ext cx="410870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谁从什么路径唤醒目标？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32008" y="4023360"/>
            <a:ext cx="4657344" cy="256032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1006328" y="4297680"/>
            <a:ext cx="603504" cy="402336"/>
          </a:xfrm>
          <a:prstGeom prst="roundRect">
            <a:avLst>
              <a:gd name="adj" fmla="val 35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06328" y="429768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56135" y="4297680"/>
            <a:ext cx="33588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相关等待链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06328" y="4956048"/>
            <a:ext cx="410870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唤醒后又受哪些线程影响？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1298448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6A5E"/>
                </a:solidFill>
                <a:latin typeface="微软雅黑"/>
                <a:ea typeface="微软雅黑"/>
                <a:cs typeface="微软雅黑"/>
              </a:rPr>
              <a:t>典型提问：“视觉应用帧率波动，想知道是哪一段处理或排队造成了延迟。”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150" y="292608"/>
            <a:ext cx="1908602" cy="3749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68680" y="7882127"/>
            <a:ext cx="14520672" cy="502920"/>
          </a:xfrm>
          <a:prstGeom prst="roundRect">
            <a:avLst>
              <a:gd name="adj" fmla="val 2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7882127"/>
            <a:ext cx="139720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BPU submit 到 complete 不等于硬件纯计算时间；没有业务 ID 或关联证据就不能凭时间接近拼出一条链。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8617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23329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48041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 w="1270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2753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97465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33320" y="859536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4632"/>
            <a:ext cx="1389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03.Latency：一次请求或一帧数据，慢在哪一步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874519"/>
            <a:ext cx="2648102" cy="960120"/>
          </a:xfrm>
          <a:prstGeom prst="roundRect">
            <a:avLst>
              <a:gd name="adj" fmla="val 8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011680"/>
            <a:ext cx="25017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Camera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359152"/>
            <a:ext cx="25017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输入帧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4214" y="2103120"/>
            <a:ext cx="26517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36822" y="1874519"/>
            <a:ext cx="2648102" cy="960120"/>
          </a:xfrm>
          <a:prstGeom prst="roundRect">
            <a:avLst>
              <a:gd name="adj" fmla="val 8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09974" y="2011680"/>
            <a:ext cx="25017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9974" y="2359152"/>
            <a:ext cx="25017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排队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2356" y="2103120"/>
            <a:ext cx="26517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04964" y="1874519"/>
            <a:ext cx="2648102" cy="960120"/>
          </a:xfrm>
          <a:prstGeom prst="roundRect">
            <a:avLst>
              <a:gd name="adj" fmla="val 8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78116" y="2011680"/>
            <a:ext cx="25017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CPU Pre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8116" y="2359152"/>
            <a:ext cx="25017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预处理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0499" y="2103120"/>
            <a:ext cx="26517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3107" y="1874519"/>
            <a:ext cx="2648102" cy="960120"/>
          </a:xfrm>
          <a:prstGeom prst="roundRect">
            <a:avLst>
              <a:gd name="adj" fmla="val 8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46259" y="2011680"/>
            <a:ext cx="25017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BPU Wait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6259" y="2359152"/>
            <a:ext cx="25017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提交→完成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48641" y="2103120"/>
            <a:ext cx="26517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741249" y="1874519"/>
            <a:ext cx="2648102" cy="960120"/>
          </a:xfrm>
          <a:prstGeom prst="roundRect">
            <a:avLst>
              <a:gd name="adj" fmla="val 8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14401" y="2011680"/>
            <a:ext cx="25017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14401" y="2359152"/>
            <a:ext cx="25017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后处理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3063240"/>
            <a:ext cx="1452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每个阶段可以跨线程、异步、并行；Frame ID / Request ID 才能关联同一个业务对象。（教学示意，非设备测量）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3611880"/>
            <a:ext cx="4657344" cy="329184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3886200"/>
            <a:ext cx="4108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端到端时延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389120"/>
            <a:ext cx="410870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输入 → 输出经历多长时间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00344" y="3611880"/>
            <a:ext cx="4657344" cy="329184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74664" y="3886200"/>
            <a:ext cx="4108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阶段与队列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74664" y="4389120"/>
            <a:ext cx="410870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时间主要消耗在哪一段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732008" y="3611880"/>
            <a:ext cx="4657344" cy="329184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06328" y="3886200"/>
            <a:ext cx="4108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慢帧与丢帧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06328" y="4389120"/>
            <a:ext cx="410870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长尾、排队、丢弃是否出现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73352" y="0"/>
            <a:ext cx="19595592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0" y="731520"/>
            <a:ext cx="5852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0" b="1">
                <a:solidFill>
                  <a:srgbClr val="FFFFFF">
                    <a:alpha val="50000"/>
                  </a:srgbClr>
                </a:solidFill>
                <a:latin typeface="优设标题黑"/>
                <a:ea typeface="优设标题黑"/>
                <a:cs typeface="优设标题黑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566160"/>
            <a:ext cx="640080" cy="7315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8862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实战与可信度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525780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>
                    <a:alpha val="95000"/>
                  </a:srgbClr>
                </a:solidFill>
                <a:latin typeface="微软雅黑"/>
                <a:ea typeface="微软雅黑"/>
                <a:cs typeface="微软雅黑"/>
              </a:rPr>
              <a:t>多 Skill 协作、X5 真实数据、证据分级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7955279"/>
            <a:ext cx="96012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2" y="7955279"/>
            <a:ext cx="96012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9544" y="7955279"/>
            <a:ext cx="96012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7955279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58968" y="7955279"/>
            <a:ext cx="96012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1298448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6A5E"/>
                </a:solidFill>
                <a:latin typeface="微软雅黑"/>
                <a:ea typeface="微软雅黑"/>
                <a:cs typeface="微软雅黑"/>
              </a:rPr>
              <a:t>假设：“X5 的 C++ 程序 RSS 比较稳定，但每隔几秒 CPU 抖动，并伴随业务卡顿。”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150" y="292608"/>
            <a:ext cx="1908602" cy="3749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398617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23329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48041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2753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 w="1270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97465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33320" y="859536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4632"/>
            <a:ext cx="1389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04.一个常见卡顿问题，四个 Skill 怎么配合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14520672" cy="566928"/>
          </a:xfrm>
          <a:prstGeom prst="roundRect">
            <a:avLst>
              <a:gd name="adj" fmla="val 8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1828800"/>
            <a:ext cx="13898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先问：我们需要区分哪些可能原因？不是先认定 malloc / free 就是根因。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670048"/>
            <a:ext cx="3321558" cy="269748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2880360"/>
            <a:ext cx="280949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CPU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3364992"/>
            <a:ext cx="280949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异常窗口谁在运行？
调用栈热点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6814" y="3749039"/>
            <a:ext cx="3383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01718" y="2670048"/>
            <a:ext cx="3321558" cy="269748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57750" y="2880360"/>
            <a:ext cx="280949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7750" y="3364992"/>
            <a:ext cx="280949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是不是高频分配？
Total / Churn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9852" y="3749039"/>
            <a:ext cx="3383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34756" y="2670048"/>
            <a:ext cx="3321558" cy="269748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0788" y="2880360"/>
            <a:ext cx="280949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SCHED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0788" y="3364992"/>
            <a:ext cx="280949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有没有唤醒 / 等待？
线程状态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92890" y="3749039"/>
            <a:ext cx="3383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067794" y="2670048"/>
            <a:ext cx="3321558" cy="269748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23826" y="2880360"/>
            <a:ext cx="280949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LATENCY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23826" y="3364992"/>
            <a:ext cx="280949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卡顿发生在哪段业务？
Frame / Queue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623560"/>
            <a:ext cx="1452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形成可信结论，需要同一异常时间窗的证据、相关调用路径和必要的对照验证。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6144768"/>
            <a:ext cx="1452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一次诊断不一定调用全部模块；从最能区分假设的证据开始，缺什么再补。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720840"/>
            <a:ext cx="1452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这不是已完成的 worker_app 根因结论，而是联合诊断教学示例。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1298448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6A5E"/>
                </a:solidFill>
                <a:latin typeface="微软雅黑"/>
                <a:ea typeface="微软雅黑"/>
                <a:cs typeface="微软雅黑"/>
              </a:rPr>
              <a:t>下面展示已经记录的真实 X5 Trace 查询结果，而不是模拟的业务性能结论。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150" y="292608"/>
            <a:ext cx="1908602" cy="3749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68680" y="7882127"/>
            <a:ext cx="14520672" cy="502920"/>
          </a:xfrm>
          <a:prstGeom prst="roundRect">
            <a:avLst>
              <a:gd name="adj" fmla="val 2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7882127"/>
            <a:ext cx="139720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证明：Heap Trace 和查询链路可验证。未证明：真实业务卡顿由 Native 分配造成。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8617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23329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48041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2753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 w="1270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97465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33320" y="859536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4632"/>
            <a:ext cx="1389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04.真实案例：X5 Native Heap 的 A/B 追踪结果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828800"/>
            <a:ext cx="7123176" cy="466344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19" y="2084831"/>
            <a:ext cx="6483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实验 A · 无 Tick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578608"/>
            <a:ext cx="6483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持有期不加入周期性小分配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5" y="1828800"/>
            <a:ext cx="7123176" cy="466344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86215" y="2084831"/>
            <a:ext cx="6483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实验 B · 200ms Tick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86215" y="2578608"/>
            <a:ext cx="6483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每 200ms 增加轻量分配推进 dump 窗口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91840"/>
            <a:ext cx="2011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300" b="1">
                <a:solidFill>
                  <a:srgbClr val="FF3C00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5204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可见 dump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3484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追踪范围内 Live 查询值 [0.0] MiB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86216" y="3246120"/>
            <a:ext cx="973836" cy="1234440"/>
          </a:xfrm>
          <a:prstGeom prst="roundRect">
            <a:avLst>
              <a:gd name="adj" fmla="val 12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86216" y="3364992"/>
            <a:ext cx="9738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F3C00"/>
                </a:solidFill>
                <a:latin typeface="Arial Black"/>
                <a:ea typeface="Arial Black"/>
                <a:cs typeface="Arial Black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6216" y="3858768"/>
            <a:ext cx="9738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MiB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6216" y="4114800"/>
            <a:ext cx="9738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Dump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06356" y="3246120"/>
            <a:ext cx="973836" cy="1234440"/>
          </a:xfrm>
          <a:prstGeom prst="roundRect">
            <a:avLst>
              <a:gd name="adj" fmla="val 12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06356" y="3364992"/>
            <a:ext cx="9738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F3C00"/>
                </a:solidFill>
                <a:latin typeface="Arial Black"/>
                <a:ea typeface="Arial Black"/>
                <a:cs typeface="Arial Black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6356" y="3858768"/>
            <a:ext cx="9738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MiB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6356" y="4114800"/>
            <a:ext cx="9738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Dump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826496" y="3246120"/>
            <a:ext cx="973836" cy="1234440"/>
          </a:xfrm>
          <a:prstGeom prst="roundRect">
            <a:avLst>
              <a:gd name="adj" fmla="val 12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26496" y="3364992"/>
            <a:ext cx="9738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F3C00"/>
                </a:solidFill>
                <a:latin typeface="Arial Black"/>
                <a:ea typeface="Arial Black"/>
                <a:cs typeface="Arial Black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6496" y="3858768"/>
            <a:ext cx="9738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MiB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6496" y="4114800"/>
            <a:ext cx="9738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Dump 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946636" y="3246120"/>
            <a:ext cx="973836" cy="1234440"/>
          </a:xfrm>
          <a:prstGeom prst="roundRect">
            <a:avLst>
              <a:gd name="adj" fmla="val 12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946636" y="3364992"/>
            <a:ext cx="9738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F3C00"/>
                </a:solidFill>
                <a:latin typeface="Arial Black"/>
                <a:ea typeface="Arial Black"/>
                <a:cs typeface="Arial Black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946636" y="3858768"/>
            <a:ext cx="9738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MiB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946636" y="4114800"/>
            <a:ext cx="9738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Dump 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066776" y="3246120"/>
            <a:ext cx="973836" cy="1234440"/>
          </a:xfrm>
          <a:prstGeom prst="roundRect">
            <a:avLst>
              <a:gd name="adj" fmla="val 12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066776" y="3364992"/>
            <a:ext cx="9738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F3C00"/>
                </a:solidFill>
                <a:latin typeface="Arial Black"/>
                <a:ea typeface="Arial Black"/>
                <a:cs typeface="Arial Black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066776" y="3858768"/>
            <a:ext cx="9738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MiB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66776" y="4114800"/>
            <a:ext cx="9738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Dump 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186916" y="3246120"/>
            <a:ext cx="973836" cy="1234440"/>
          </a:xfrm>
          <a:prstGeom prst="roundRect">
            <a:avLst>
              <a:gd name="adj" fmla="val 12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186916" y="3364992"/>
            <a:ext cx="9738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F3C00"/>
                </a:solidFill>
                <a:latin typeface="Arial Black"/>
                <a:ea typeface="Arial Black"/>
                <a:cs typeface="Arial Black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86916" y="3858768"/>
            <a:ext cx="9738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MiB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86916" y="4114800"/>
            <a:ext cx="9738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Dump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86216" y="4709160"/>
            <a:ext cx="64830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6 份可见 dump，Live 估计：8 → 8 → 8 → 0 → 0 → 0 MiB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6720840"/>
            <a:ext cx="1452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X5 tracebox v57.1 · Ubuntu Trace Processor v58.2 · 两份真实 .pftrace · SQL 结果可复核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1298448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6A5E"/>
                </a:solidFill>
                <a:latin typeface="微软雅黑"/>
                <a:ea typeface="微软雅黑"/>
                <a:cs typeface="微软雅黑"/>
              </a:rPr>
              <a:t>一份报告必须能区分“录到了文件”“采到了目标数据”“分析方法正确”“结论证据充分”。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150" y="292608"/>
            <a:ext cx="1908602" cy="3749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68680" y="7882127"/>
            <a:ext cx="14520672" cy="502920"/>
          </a:xfrm>
          <a:prstGeom prst="roundRect">
            <a:avLst>
              <a:gd name="adj" fmla="val 2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7882127"/>
            <a:ext cx="139720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“空数据 ≠ 没问题” · “时间相关 ≠ 已证明因果” · “未验证 = UNKNOWN / 需要补采”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8617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23329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48041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2753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 w="1270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97465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33320" y="859536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4632"/>
            <a:ext cx="1389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04.怎么判断 Agent 给出的性能诊断结果可信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194560"/>
            <a:ext cx="3424428" cy="457200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43000" y="2514600"/>
            <a:ext cx="731520" cy="420624"/>
          </a:xfrm>
          <a:prstGeom prst="roundRect">
            <a:avLst>
              <a:gd name="adj" fmla="val 35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514600"/>
            <a:ext cx="7315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246120"/>
            <a:ext cx="28757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能执行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31920"/>
            <a:ext cx="287578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TraceConfig 和采集命令可运行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67428" y="2194560"/>
            <a:ext cx="3424428" cy="457200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41748" y="2514600"/>
            <a:ext cx="731520" cy="420624"/>
          </a:xfrm>
          <a:prstGeom prst="roundRect">
            <a:avLst>
              <a:gd name="adj" fmla="val 35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1748" y="2514600"/>
            <a:ext cx="7315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1748" y="3246120"/>
            <a:ext cx="28757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数据有效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1748" y="3931920"/>
            <a:ext cx="287578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目标、时间窗、丢包和符号可核对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66175" y="2194560"/>
            <a:ext cx="3424428" cy="457200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40496" y="2514600"/>
            <a:ext cx="731520" cy="420624"/>
          </a:xfrm>
          <a:prstGeom prst="roundRect">
            <a:avLst>
              <a:gd name="adj" fmla="val 35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0496" y="2514600"/>
            <a:ext cx="7315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496" y="3246120"/>
            <a:ext cx="28757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分析正确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496" y="3931920"/>
            <a:ext cx="287578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SQL 统计口径与 Ground Truth 一致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964924" y="2194560"/>
            <a:ext cx="3424428" cy="457200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2239244" y="2514600"/>
            <a:ext cx="731520" cy="420624"/>
          </a:xfrm>
          <a:prstGeom prst="roundRect">
            <a:avLst>
              <a:gd name="adj" fmla="val 35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239244" y="2514600"/>
            <a:ext cx="7315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39244" y="3246120"/>
            <a:ext cx="28757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结论可靠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39244" y="3931920"/>
            <a:ext cx="287578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关联与因果分开，必要时做对照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73352" y="0"/>
            <a:ext cx="19595592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26880" y="731520"/>
            <a:ext cx="5852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0" b="1">
                <a:solidFill>
                  <a:srgbClr val="FFFFFF">
                    <a:alpha val="50000"/>
                  </a:srgbClr>
                </a:solidFill>
                <a:latin typeface="优设标题黑"/>
                <a:ea typeface="优设标题黑"/>
                <a:cs typeface="优设标题黑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566160"/>
            <a:ext cx="640080" cy="73152"/>
          </a:xfrm>
          <a:prstGeom prst="rect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8862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扩展与总结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5257800"/>
            <a:ext cx="1188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>
                    <a:alpha val="95000"/>
                  </a:srgbClr>
                </a:solidFill>
                <a:latin typeface="微软雅黑"/>
                <a:ea typeface="微软雅黑"/>
                <a:cs typeface="微软雅黑"/>
              </a:rPr>
              <a:t>从四个场景到十个，再到你下一次的第一次诊断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7955279"/>
            <a:ext cx="96012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2" y="7955279"/>
            <a:ext cx="96012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9544" y="7955279"/>
            <a:ext cx="96012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7955279"/>
            <a:ext cx="96012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58968" y="7955279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1298448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6A5E"/>
                </a:solidFill>
                <a:latin typeface="微软雅黑"/>
                <a:ea typeface="微软雅黑"/>
                <a:cs typeface="微软雅黑"/>
              </a:rPr>
              <a:t>当前四个专业场景形成第一组能力；新增场景沿用相同的采集、分析与验证方法。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150" y="292608"/>
            <a:ext cx="1908602" cy="3749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68680" y="7882127"/>
            <a:ext cx="14520672" cy="502920"/>
          </a:xfrm>
          <a:prstGeom prst="roundRect">
            <a:avLst>
              <a:gd name="adj" fmla="val 20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7882127"/>
            <a:ext cx="139720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这是我们的工程场景规划，不是 Perfetto 官方的固定分类。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8617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23329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48041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2753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97465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 w="1270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33320" y="859536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4632"/>
            <a:ext cx="1389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05.从四个核心 Skill，扩展到十个性能诊断场景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011680"/>
            <a:ext cx="4657344" cy="475488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240280"/>
            <a:ext cx="4108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四个核心诊断领域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2834640"/>
            <a:ext cx="1940052" cy="1554480"/>
          </a:xfrm>
          <a:prstGeom prst="roundRect">
            <a:avLst>
              <a:gd name="adj" fmla="val 12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3154680"/>
            <a:ext cx="17205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3611880"/>
            <a:ext cx="17205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内存行为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1652" y="2834640"/>
            <a:ext cx="1940052" cy="1554480"/>
          </a:xfrm>
          <a:prstGeom prst="roundRect">
            <a:avLst>
              <a:gd name="adj" fmla="val 12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1380" y="3154680"/>
            <a:ext cx="17205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CPU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1380" y="3611880"/>
            <a:ext cx="17205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执行热点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617720"/>
            <a:ext cx="1940052" cy="1554480"/>
          </a:xfrm>
          <a:prstGeom prst="roundRect">
            <a:avLst>
              <a:gd name="adj" fmla="val 12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52728" y="4937759"/>
            <a:ext cx="17205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SCHEDULING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2728" y="5394959"/>
            <a:ext cx="17205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等待/唤醒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11652" y="4617720"/>
            <a:ext cx="1940052" cy="1554480"/>
          </a:xfrm>
          <a:prstGeom prst="roundRect">
            <a:avLst>
              <a:gd name="adj" fmla="val 12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1380" y="4937759"/>
            <a:ext cx="17205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LATENCY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1380" y="5394959"/>
            <a:ext cx="17205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业务时延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00344" y="2011680"/>
            <a:ext cx="4657344" cy="475488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74664" y="2240280"/>
            <a:ext cx="4108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系统级核心扩展（P1）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74664" y="2834640"/>
            <a:ext cx="1940052" cy="1554480"/>
          </a:xfrm>
          <a:prstGeom prst="roundRect">
            <a:avLst>
              <a:gd name="adj" fmla="val 12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84392" y="3154680"/>
            <a:ext cx="17205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I/O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4392" y="3611880"/>
            <a:ext cx="17205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读写与等待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43316" y="2834640"/>
            <a:ext cx="1940052" cy="1554480"/>
          </a:xfrm>
          <a:prstGeom prst="roundRect">
            <a:avLst>
              <a:gd name="adj" fmla="val 12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3044" y="3154680"/>
            <a:ext cx="17205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KERNEL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3044" y="3611880"/>
            <a:ext cx="17205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内核/驱动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74664" y="4617720"/>
            <a:ext cx="1940052" cy="1554480"/>
          </a:xfrm>
          <a:prstGeom prst="roundRect">
            <a:avLst>
              <a:gd name="adj" fmla="val 12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84392" y="4937759"/>
            <a:ext cx="17205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POWER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84392" y="5394959"/>
            <a:ext cx="17205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频率/功耗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43316" y="4617720"/>
            <a:ext cx="1940052" cy="1554480"/>
          </a:xfrm>
          <a:prstGeom prst="roundRect">
            <a:avLst>
              <a:gd name="adj" fmla="val 12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53044" y="4937759"/>
            <a:ext cx="17205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3044" y="5394959"/>
            <a:ext cx="17205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跨进程竞争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732008" y="2011680"/>
            <a:ext cx="4657344" cy="475488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06328" y="2240280"/>
            <a:ext cx="4108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扩展场景（P2）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006328" y="2834640"/>
            <a:ext cx="1940052" cy="1554480"/>
          </a:xfrm>
          <a:prstGeom prst="roundRect">
            <a:avLst>
              <a:gd name="adj" fmla="val 12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16056" y="3154680"/>
            <a:ext cx="17205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ACCELERATOR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16056" y="3611880"/>
            <a:ext cx="17205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GPU/BPU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174980" y="2834640"/>
            <a:ext cx="1940052" cy="1554480"/>
          </a:xfrm>
          <a:prstGeom prst="roundRect">
            <a:avLst>
              <a:gd name="adj" fmla="val 12000"/>
            </a:avLst>
          </a:prstGeom>
          <a:solidFill>
            <a:srgbClr val="FF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284708" y="3154680"/>
            <a:ext cx="17205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REGRESSION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84708" y="3611880"/>
            <a:ext cx="17205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长期追踪/回归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1298448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6A5E"/>
                </a:solidFill>
                <a:latin typeface="微软雅黑"/>
                <a:ea typeface="微软雅黑"/>
                <a:cs typeface="微软雅黑"/>
              </a:rPr>
              <a:t>本次培训的目标不是让你成为 PerfettoSQL 专家，而是让你敢于发起一次可复核的性能诊断。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150" y="292608"/>
            <a:ext cx="1908602" cy="3749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398617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23329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48041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2753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97465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 w="1270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33320" y="859536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4632"/>
            <a:ext cx="1389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05.下次遇到性能问题，可以从这三步开始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011680"/>
            <a:ext cx="4657344" cy="265176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43000" y="2286000"/>
            <a:ext cx="603504" cy="402336"/>
          </a:xfrm>
          <a:prstGeom prst="roundRect">
            <a:avLst>
              <a:gd name="adj" fmla="val 35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2860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2808" y="2286000"/>
            <a:ext cx="33588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描述现象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44368"/>
            <a:ext cx="410870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哪里卡、多久一次、哪台设备或进程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0344" y="2011680"/>
            <a:ext cx="4657344" cy="265176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74664" y="2286000"/>
            <a:ext cx="603504" cy="402336"/>
          </a:xfrm>
          <a:prstGeom prst="roundRect">
            <a:avLst>
              <a:gd name="adj" fmla="val 35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74664" y="22860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4472" y="2286000"/>
            <a:ext cx="33588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明确执行边界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4664" y="2944368"/>
            <a:ext cx="410870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先只给方案，还是允许采集与验证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32008" y="2011680"/>
            <a:ext cx="4657344" cy="265176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006328" y="2286000"/>
            <a:ext cx="603504" cy="402336"/>
          </a:xfrm>
          <a:prstGeom prst="roundRect">
            <a:avLst>
              <a:gd name="adj" fmla="val 35000"/>
            </a:avLst>
          </a:prstGeom>
          <a:noFill/>
          <a:ln w="1524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06328" y="22860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3C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56135" y="2286000"/>
            <a:ext cx="33588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要求证据与下一步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6328" y="2944368"/>
            <a:ext cx="410870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保留 Trace、SQL、UNKNOWN 和复测建议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983480"/>
            <a:ext cx="14520672" cy="210312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349240"/>
            <a:ext cx="138805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“X5 上的 C++ 程序偶发卡顿，帮我用 Perfetto 分析，先给定位方案，不要动板端。”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6355080"/>
            <a:ext cx="13880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C00"/>
                </a:solidFill>
                <a:latin typeface="微软雅黑"/>
                <a:ea typeface="微软雅黑"/>
                <a:cs typeface="微软雅黑"/>
              </a:rPr>
              <a:t>这句话就是一次诊断的起点。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1298448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6A5E"/>
                </a:solidFill>
                <a:latin typeface="微软雅黑"/>
                <a:ea typeface="微软雅黑"/>
                <a:cs typeface="微软雅黑"/>
              </a:rPr>
              <a:t>官方文档支撑工具能力；项目实证和测试记录支撑可验证部分的结论。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150" y="292608"/>
            <a:ext cx="1908602" cy="3749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398617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工具认知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23329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Skill 入门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48041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四个 Skill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2753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8578"/>
                </a:solidFill>
                <a:latin typeface="微软雅黑"/>
                <a:ea typeface="微软雅黑"/>
                <a:cs typeface="微软雅黑"/>
              </a:rPr>
              <a:t>实战可信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97465" y="857707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3C00"/>
          </a:solidFill>
          <a:ln w="12700">
            <a:solidFill>
              <a:srgbClr val="FF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扩展总结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33320" y="859536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4632"/>
            <a:ext cx="1389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3C00"/>
                </a:solidFill>
                <a:latin typeface="优设标题黑"/>
                <a:ea typeface="优设标题黑"/>
                <a:cs typeface="优设标题黑"/>
              </a:rPr>
              <a:t>05.参考资料与能力边界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14520672" cy="68580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828800"/>
            <a:ext cx="5852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Perfetto Tracing 101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828800"/>
            <a:ext cx="7863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perfetto.dev/docs/tracing-101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697480"/>
            <a:ext cx="14520672" cy="68580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697480"/>
            <a:ext cx="5852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System Tracing /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697480"/>
            <a:ext cx="7863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perfetto.dev/docs/getting-started/system-tracing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566160"/>
            <a:ext cx="14520672" cy="68580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566160"/>
            <a:ext cx="5852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Using AI with Perfetto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566160"/>
            <a:ext cx="7863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perfetto.dev/docs/getting-started/using-ai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434840"/>
            <a:ext cx="14520672" cy="68580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434840"/>
            <a:ext cx="5852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项目测试仓库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434840"/>
            <a:ext cx="7863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8578"/>
                </a:solidFill>
                <a:latin typeface="Arial"/>
                <a:ea typeface="Arial"/>
                <a:cs typeface="Arial"/>
              </a:rPr>
              <a:t>github.com/dg-xiaodong/test_perfetto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486400"/>
            <a:ext cx="14520672" cy="210312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715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使用与验证范围</a:t>
            </a:r>
          </a:p>
        </p:txBody>
      </p:sp>
      <p:sp>
        <p:nvSpPr>
          <p:cNvPr id="25" name="Oval 24"/>
          <p:cNvSpPr/>
          <p:nvPr/>
        </p:nvSpPr>
        <p:spPr>
          <a:xfrm>
            <a:off x="1188720" y="6419088"/>
            <a:ext cx="128016" cy="128016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81328" y="6309360"/>
            <a:ext cx="1362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四类独立专业 Skill 已开发；本演示将总路由作为一体化使用形态介绍。</a:t>
            </a:r>
          </a:p>
        </p:txBody>
      </p:sp>
      <p:sp>
        <p:nvSpPr>
          <p:cNvPr id="27" name="Oval 26"/>
          <p:cNvSpPr/>
          <p:nvPr/>
        </p:nvSpPr>
        <p:spPr>
          <a:xfrm>
            <a:off x="1188720" y="6949440"/>
            <a:ext cx="128016" cy="128016"/>
          </a:xfrm>
          <a:prstGeom prst="ellipse">
            <a:avLst/>
          </a:prstGeom>
          <a:solidFill>
            <a:srgbClr val="FF3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81328" y="6839712"/>
            <a:ext cx="1362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72D26"/>
                </a:solidFill>
                <a:latin typeface="微软雅黑"/>
                <a:ea typeface="微软雅黑"/>
                <a:cs typeface="微软雅黑"/>
              </a:rPr>
              <a:t>各场景的 X5 端到端成熟度以实际测试报告为准；仅 P15 展示可核验的 Native Heap 实测数据。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anks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8032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43784" y="3931920"/>
            <a:ext cx="10570464" cy="2020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Thanks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43784" y="58521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留 5 分钟：你手上那个性能异常，准备怎么提问？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